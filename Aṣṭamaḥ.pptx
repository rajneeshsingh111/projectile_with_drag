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60" r:id="rId5"/>
    <p:sldId id="273" r:id="rId6"/>
    <p:sldId id="264" r:id="rId7"/>
    <p:sldId id="275" r:id="rId8"/>
    <p:sldId id="276" r:id="rId9"/>
    <p:sldId id="277" r:id="rId10"/>
    <p:sldId id="278" r:id="rId11"/>
    <p:sldId id="279" r:id="rId12"/>
    <p:sldId id="261" r:id="rId13"/>
    <p:sldId id="280" r:id="rId14"/>
    <p:sldId id="283" r:id="rId15"/>
    <p:sldId id="281" r:id="rId16"/>
    <p:sldId id="282" r:id="rId17"/>
    <p:sldId id="284" r:id="rId18"/>
    <p:sldId id="285" r:id="rId19"/>
    <p:sldId id="286" r:id="rId20"/>
    <p:sldId id="287" r:id="rId21"/>
    <p:sldId id="288" r:id="rId22"/>
    <p:sldId id="258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80E7-40F8-E3A5-091A-963C1B417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057F4-CF3C-7B68-958D-DC7D50710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15246-62A0-6E0F-1E3B-187021A3E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93743-6204-31A0-FDF2-C04064D2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EF158-63DC-4509-1381-34E1E3D3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51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ED46-779D-1D51-E9A8-6B849851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A80B-4779-8184-45B1-9C653C53C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A0D0E-E117-AD85-53A8-1BBAD5807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51AD1-6CC0-7E6F-8C25-2D1E91A5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E1F72-83D4-0A4C-E4BD-BF0661E6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328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CF9E-4BCF-8497-6855-B2455A99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21090-84B5-8778-FEE1-0C41FB55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F48F5-EDA3-474A-23E8-EA54F056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904F1-99BC-0D78-5684-0F0B0574C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4D60A-81FB-6B10-C656-2D149F78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00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A8021-DF2B-4524-5A98-4499EB558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A786-16A9-50E4-CF77-E737D9B9D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05D282-D977-6348-3DC6-ACC078D76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13DA1-2704-F671-08F7-9479D5A3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D7DA7-93D5-808B-9E48-387C7D10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AB273-F9E0-9C41-1020-9AC083E4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2098-FA3B-39DB-EA92-AEEFE56F9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AF157-E632-A233-7328-B54CE5EA6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5C625-16EE-6803-5C6E-52A5D9AC9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756A5-6D76-8EC6-91E5-654B2EB67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4DDB74-F8FE-F727-0C27-7D888D525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790F6-81C3-3961-716C-B789E2697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8FA0B-58DD-971D-BDC6-4874538A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1A4BA-280C-4296-B712-0C0964ED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25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A12EF-5CF8-E01F-A9AE-FF1D5E3A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5CAEA-9CDA-F160-0B5E-47035107F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A58B7-EB02-C9FF-0B8A-888DE682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47F7A-CF3F-59BC-710C-DB498D7F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981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1CE90A-9B97-4381-68BA-492E2F56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01D79-6FB9-1D0D-788B-E0441CEF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4AF7B-3488-CF72-1ED1-8837141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B8DF-2FE7-EF20-7F64-A4BF9DF2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B0F91-7AA7-E91E-526D-EB4B8904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653B3-46F8-26B0-3479-59529B74B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70708-5846-D685-FFBA-530FD1AE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2BAF1-7CBC-345B-2B7D-CE6F0553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6422C-A8FC-2110-D367-2121247B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5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B65C-AB0C-5104-0A5C-51357FB7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EF6D8-EDCD-7FF5-4459-03CB52B85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416B9-F2D2-9AF2-E8C2-6264E999E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D1399-E710-652C-A1B3-A1AEAC73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33009-B56A-067C-A979-B84994208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73DA5-C1CC-322B-9737-1A2C73F2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795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6DE4-535D-5CD7-3834-77D717562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E16D7-9FBB-1913-A6D8-5096BB62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4863-3EF3-F68D-CC4F-C002BAFE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CEBB8-502A-34A6-2E48-2FC611A3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59855-6F6B-77F5-CC00-7CC85807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46DEA7-2170-3FED-1E35-1345BC92C8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3017-693B-00FF-BBC4-B567BFC73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0BA50-7ECE-1C1B-438E-2C9EF185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A5E9-5F03-2F0D-8062-0BA36D9BA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FAA16-653E-3C44-FCA5-02E78310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52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7256C-2A76-31D3-3DAF-E07DD70E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7F2B9-B31E-4D2A-8917-FE89FA38C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35BA8-7AAE-4A32-9C7E-47CADD334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1B3B-B6F5-4616-905A-BCCDF7058C4E}" type="datetimeFigureOut">
              <a:rPr lang="en-IN" smtClean="0"/>
              <a:t>17-08-2024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4C1E1-F6FD-F38D-C75C-21943E0AE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8C4B1-4D7C-645B-CF48-CFC6172FC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CD3DF-F386-44F5-9A26-AC8716A8E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81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ist.ac.in/administration/roboticclub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ujoco.readthedocs.io/en/stable/XMLreference.html" TargetMode="External"/><Relationship Id="rId2" Type="http://schemas.openxmlformats.org/officeDocument/2006/relationships/hyperlink" Target="https://mujoco.readthedocs.io/en/stable/overview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ohanpsingh/mujoco-python-viewer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537B3-2F81-2017-B87B-AD3D2DC9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737" y="2984992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JeevYantra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2E7B-AFAC-1AFB-5CBF-5AD74D98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737" y="1093996"/>
            <a:ext cx="4822598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IN" sz="4000">
                <a:hlinkClick r:id="rId2"/>
              </a:rPr>
              <a:t>Robotics Club | IIST</a:t>
            </a:r>
            <a:endParaRPr lang="en-US" sz="5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cartoon robot holding a star&#10;&#10;Description automatically generated">
            <a:extLst>
              <a:ext uri="{FF2B5EF4-FFF2-40B4-BE49-F238E27FC236}">
                <a16:creationId xmlns:a16="http://schemas.microsoft.com/office/drawing/2014/main" id="{2EA09F1D-1435-7C34-0B90-A8C342ABB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929" y="1013814"/>
            <a:ext cx="4358778" cy="435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49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F05ACD0-FF4A-4F8F-B5C5-6A4EBD0D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9AFA28-B5ED-4346-9AF7-68A157F16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9EB55E-1C5F-679D-392D-8EE5CE51D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608" y="1380564"/>
            <a:ext cx="4561369" cy="1048529"/>
          </a:xfrm>
        </p:spPr>
        <p:txBody>
          <a:bodyPr anchor="b">
            <a:normAutofit/>
          </a:bodyPr>
          <a:lstStyle/>
          <a:p>
            <a:r>
              <a:rPr lang="en-IN" sz="6600" err="1"/>
              <a:t>Aṣṭamaḥ</a:t>
            </a:r>
            <a:endParaRPr lang="en-IN" sz="28700">
              <a:solidFill>
                <a:srgbClr val="595959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E859F-7D29-67A8-D4B9-576C4AD55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2608" y="2903744"/>
            <a:ext cx="4823490" cy="2247609"/>
          </a:xfrm>
        </p:spPr>
        <p:txBody>
          <a:bodyPr anchor="t">
            <a:normAutofit/>
          </a:bodyPr>
          <a:lstStyle/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8th chapter of our learning session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Projectile with MuJoCo – Part 1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17 August 2024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Rajneesh Singh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B.Tech. 4</a:t>
            </a:r>
            <a:r>
              <a:rPr lang="en-IN" sz="16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Year ECE(Avionics)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President, JeevYantra (Robotics Club IIST)</a:t>
            </a:r>
          </a:p>
        </p:txBody>
      </p:sp>
      <p:pic>
        <p:nvPicPr>
          <p:cNvPr id="6" name="Picture 5" descr="A cartoon robot holding a star&#10;&#10;Description automatically generated">
            <a:extLst>
              <a:ext uri="{FF2B5EF4-FFF2-40B4-BE49-F238E27FC236}">
                <a16:creationId xmlns:a16="http://schemas.microsoft.com/office/drawing/2014/main" id="{FD3DFAF0-9B2F-5EFF-41D9-0CDD30E5F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2192" y="1472813"/>
            <a:ext cx="3769580" cy="376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0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3DF5-A84A-DF40-6D89-B5B15FDD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MuJoCo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2010B-EAF1-DE2A-743F-35E453DEC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MuJoCo</a:t>
            </a:r>
            <a:r>
              <a:rPr lang="en-US" b="0" i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is a free and open-source general purpose physics engine </a:t>
            </a:r>
            <a:endParaRPr lang="en-US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aims to facilitate research and development in robotics, biomechanics, graphics and animation, and other areas where fast and accurate simulation is needed.</a:t>
            </a:r>
          </a:p>
          <a:p>
            <a:r>
              <a:rPr lang="en-US" b="1" i="0">
                <a:effectLst/>
                <a:latin typeface="DM Sans" pitchFamily="2" charset="0"/>
              </a:rPr>
              <a:t>MuJoCo</a:t>
            </a:r>
            <a:r>
              <a:rPr lang="en-US" b="0" i="0">
                <a:effectLst/>
                <a:latin typeface="DM Sans" pitchFamily="2" charset="0"/>
              </a:rPr>
              <a:t> stands for </a:t>
            </a:r>
            <a:r>
              <a:rPr lang="en-US" b="1" i="0">
                <a:effectLst/>
                <a:latin typeface="DM Sans" pitchFamily="2" charset="0"/>
              </a:rPr>
              <a:t>Mu</a:t>
            </a:r>
            <a:r>
              <a:rPr lang="en-US" b="0" i="0">
                <a:effectLst/>
                <a:latin typeface="DM Sans" pitchFamily="2" charset="0"/>
              </a:rPr>
              <a:t>lti-</a:t>
            </a:r>
            <a:r>
              <a:rPr lang="en-US" b="1" i="0">
                <a:effectLst/>
                <a:latin typeface="DM Sans" pitchFamily="2" charset="0"/>
              </a:rPr>
              <a:t>Jo</a:t>
            </a:r>
            <a:r>
              <a:rPr lang="en-US" b="0" i="0">
                <a:effectLst/>
                <a:latin typeface="DM Sans" pitchFamily="2" charset="0"/>
              </a:rPr>
              <a:t>int dynamics with </a:t>
            </a:r>
            <a:r>
              <a:rPr lang="en-US" b="1" i="0">
                <a:effectLst/>
                <a:latin typeface="DM Sans" pitchFamily="2" charset="0"/>
              </a:rPr>
              <a:t>Co</a:t>
            </a:r>
            <a:r>
              <a:rPr lang="en-US" b="0" i="0">
                <a:effectLst/>
                <a:latin typeface="DM Sans" pitchFamily="2" charset="0"/>
              </a:rPr>
              <a:t>ntact.</a:t>
            </a:r>
          </a:p>
          <a:p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initially developed by </a:t>
            </a:r>
            <a:r>
              <a:rPr lang="en-US" b="0" i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Roboti</a:t>
            </a:r>
            <a:r>
              <a:rPr lang="en-US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LLC, it was acquired and made freely available by Google DeepMind in October 2021, and open sourced in May 2022.</a:t>
            </a:r>
          </a:p>
        </p:txBody>
      </p:sp>
    </p:spTree>
    <p:extLst>
      <p:ext uri="{BB962C8B-B14F-4D97-AF65-F5344CB8AC3E}">
        <p14:creationId xmlns:p14="http://schemas.microsoft.com/office/powerpoint/2010/main" val="215680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1DCB-5B61-3B71-F1C3-8FD21D2C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Installation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3D5A-4CFE-EDDD-5495-AB301A86D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pip3 install </a:t>
            </a:r>
            <a:r>
              <a:rPr lang="en-IN" err="1"/>
              <a:t>mujoco</a:t>
            </a:r>
            <a:endParaRPr lang="en-IN"/>
          </a:p>
          <a:p>
            <a:r>
              <a:rPr lang="en-IN"/>
              <a:t>pip3 install </a:t>
            </a:r>
            <a:r>
              <a:rPr lang="en-IN" err="1"/>
              <a:t>mujoco</a:t>
            </a:r>
            <a:r>
              <a:rPr lang="en-IN"/>
              <a:t>-python-viewer</a:t>
            </a:r>
          </a:p>
        </p:txBody>
      </p:sp>
    </p:spTree>
    <p:extLst>
      <p:ext uri="{BB962C8B-B14F-4D97-AF65-F5344CB8AC3E}">
        <p14:creationId xmlns:p14="http://schemas.microsoft.com/office/powerpoint/2010/main" val="77647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66CB-CDD9-D830-844C-5D96F9B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Step 1</a:t>
            </a:r>
            <a:endParaRPr lang="en-IN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0A6F-751F-69C2-5EA0-CE2548B8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Create an XML file</a:t>
            </a:r>
          </a:p>
          <a:p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XML files set up the simulation environment and its objects.</a:t>
            </a: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Let us create a sphere on a platform.</a:t>
            </a:r>
            <a:endParaRPr lang="en-IN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25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78B1-0691-1F6A-C680-7C1E09A4B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xml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D6C8-BDD9-0906-A17F-C62D51585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XML documents must contain one </a:t>
            </a:r>
            <a:r>
              <a:rPr lang="en-US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root</a:t>
            </a: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element that is the </a:t>
            </a:r>
            <a:r>
              <a:rPr lang="en-US" b="1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parent</a:t>
            </a: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of all other elements:</a:t>
            </a:r>
            <a:endParaRPr lang="en-US" b="0" i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child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 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subchild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.....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i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subchild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/>
            </a:br>
            <a:r>
              <a:rPr 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/child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/>
            </a:b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/root</a:t>
            </a:r>
            <a:r>
              <a:rPr lang="en-US" b="0" i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endParaRPr lang="en-US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>
                <a:solidFill>
                  <a:srgbClr val="0000CD"/>
                </a:solidFill>
                <a:latin typeface="Consolas" panose="020B0609020204030204" pitchFamily="49" charset="0"/>
              </a:rPr>
              <a:t>In our case, root element is </a:t>
            </a:r>
            <a:r>
              <a:rPr lang="en-US" err="1">
                <a:solidFill>
                  <a:srgbClr val="0000CD"/>
                </a:solidFill>
                <a:latin typeface="Consolas" panose="020B0609020204030204" pitchFamily="49" charset="0"/>
              </a:rPr>
              <a:t>mujoco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51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AB0F-9763-02AA-4B37-A917AC10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2321"/>
            <a:ext cx="10804695" cy="5234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type="plane" size="10 1 0.1"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=".8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.8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.8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&lt;body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0 1"&gt;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&lt;joint type="free"/&gt;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type="sphere" size=".1"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&lt;/body&gt;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&lt;/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02683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AB0F-9763-02AA-4B37-A917AC10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2321"/>
            <a:ext cx="10804695" cy="5234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type="plane" size="10 1 0.1"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=".8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.8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.8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&lt;body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0 1"&gt;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&lt;joint type="free"/&gt;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type="sphere" size=".1"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&lt;/body&gt;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2970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AB0F-9763-02AA-4B37-A917AC10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2321"/>
            <a:ext cx="10804695" cy="5234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effectLst/>
                <a:latin typeface="Consolas" panose="020B0609020204030204" pitchFamily="49" charset="0"/>
              </a:rPr>
              <a:t> type="plane" size="10 1 0.1" 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effectLst/>
                <a:latin typeface="Consolas" panose="020B0609020204030204" pitchFamily="49" charset="0"/>
              </a:rPr>
              <a:t>=".8 </a:t>
            </a:r>
            <a:r>
              <a:rPr lang="en-IN" sz="2400">
                <a:latin typeface="Consolas" panose="020B0609020204030204" pitchFamily="49" charset="0"/>
              </a:rPr>
              <a:t>.8</a:t>
            </a:r>
            <a:r>
              <a:rPr lang="en-IN" sz="2400" b="0"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latin typeface="Consolas" panose="020B0609020204030204" pitchFamily="49" charset="0"/>
              </a:rPr>
              <a:t>.8</a:t>
            </a:r>
            <a:r>
              <a:rPr lang="en-IN" sz="2400" b="0"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&lt;body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0 1"&gt;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&lt;joint type="free"/&gt;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  &lt;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type="sphere" size=".1" </a:t>
            </a:r>
            <a:r>
              <a:rPr lang="en-IN" sz="2400" b="0" err="1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="0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    &lt;/body&gt;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7501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AB0F-9763-02AA-4B37-A917AC10D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42321"/>
            <a:ext cx="10804695" cy="5234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effectLst/>
                <a:latin typeface="Consolas" panose="020B0609020204030204" pitchFamily="49" charset="0"/>
              </a:rPr>
              <a:t> type="plane" size="10 1 0.1" 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effectLst/>
                <a:latin typeface="Consolas" panose="020B0609020204030204" pitchFamily="49" charset="0"/>
              </a:rPr>
              <a:t>=".8 </a:t>
            </a:r>
            <a:r>
              <a:rPr lang="en-IN" sz="2400">
                <a:latin typeface="Consolas" panose="020B0609020204030204" pitchFamily="49" charset="0"/>
              </a:rPr>
              <a:t>.8</a:t>
            </a:r>
            <a:r>
              <a:rPr lang="en-IN" sz="2400" b="0"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latin typeface="Consolas" panose="020B0609020204030204" pitchFamily="49" charset="0"/>
              </a:rPr>
              <a:t>.8</a:t>
            </a:r>
            <a:r>
              <a:rPr lang="en-IN" sz="2400" b="0"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&lt;body 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pos</a:t>
            </a:r>
            <a:r>
              <a:rPr lang="en-IN" sz="2400" b="0">
                <a:effectLst/>
                <a:latin typeface="Consolas" panose="020B0609020204030204" pitchFamily="49" charset="0"/>
              </a:rPr>
              <a:t>="0 0 1"&gt;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  &lt;joint type="free"/&gt;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  &lt;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geom</a:t>
            </a:r>
            <a:r>
              <a:rPr lang="en-IN" sz="2400" b="0">
                <a:effectLst/>
                <a:latin typeface="Consolas" panose="020B0609020204030204" pitchFamily="49" charset="0"/>
              </a:rPr>
              <a:t> type="sphere" size=".1" 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rgba</a:t>
            </a:r>
            <a:r>
              <a:rPr lang="en-IN" sz="2400" b="0">
                <a:effectLst/>
                <a:latin typeface="Consolas" panose="020B0609020204030204" pitchFamily="49" charset="0"/>
              </a:rPr>
              <a:t>="0 </a:t>
            </a:r>
            <a:r>
              <a:rPr lang="en-IN" sz="2400">
                <a:latin typeface="Consolas" panose="020B0609020204030204" pitchFamily="49" charset="0"/>
              </a:rPr>
              <a:t>1</a:t>
            </a:r>
            <a:r>
              <a:rPr lang="en-IN" sz="2400" b="0">
                <a:effectLst/>
                <a:latin typeface="Consolas" panose="020B0609020204030204" pitchFamily="49" charset="0"/>
              </a:rPr>
              <a:t> </a:t>
            </a:r>
            <a:r>
              <a:rPr lang="en-IN" sz="2400">
                <a:latin typeface="Consolas" panose="020B0609020204030204" pitchFamily="49" charset="0"/>
              </a:rPr>
              <a:t>1</a:t>
            </a:r>
            <a:r>
              <a:rPr lang="en-IN" sz="2400" b="0">
                <a:effectLst/>
                <a:latin typeface="Consolas" panose="020B0609020204030204" pitchFamily="49" charset="0"/>
              </a:rPr>
              <a:t> 1"/&gt;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  &lt;/body&gt;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  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worldbody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2400" b="0">
                <a:effectLst/>
                <a:latin typeface="Consolas" panose="020B0609020204030204" pitchFamily="49" charset="0"/>
              </a:rPr>
              <a:t>&lt;/</a:t>
            </a:r>
            <a:r>
              <a:rPr lang="en-IN" sz="2400" b="0" err="1">
                <a:effectLst/>
                <a:latin typeface="Consolas" panose="020B0609020204030204" pitchFamily="49" charset="0"/>
              </a:rPr>
              <a:t>mujoco</a:t>
            </a:r>
            <a:r>
              <a:rPr lang="en-IN" sz="2400" b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87960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66CB-CDD9-D830-844C-5D96F9B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>
                <a:latin typeface="Times New Roman" panose="02020603050405020304" pitchFamily="18" charset="0"/>
                <a:cs typeface="Times New Roman" panose="02020603050405020304" pitchFamily="18" charset="0"/>
              </a:rPr>
              <a:t>Step 2</a:t>
            </a:r>
            <a:endParaRPr lang="en-IN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0A6F-751F-69C2-5EA0-CE2548B8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python file</a:t>
            </a:r>
          </a:p>
          <a:p>
            <a:endParaRPr 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We will write the program in object orientated way.</a:t>
            </a: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Create a folder for your project (say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Projectile</a:t>
            </a: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Inside Projectile folder make another folder </a:t>
            </a:r>
            <a:r>
              <a:rPr lang="en-US" sz="3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Move the 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projectile.xml 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file inside env folder</a:t>
            </a:r>
            <a:endParaRPr lang="en-US" sz="36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29D325-33A9-9FE7-2990-EEC113CC9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541" y="758765"/>
            <a:ext cx="2362530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1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E5FF-ED98-2517-4285-9F7D0C7F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53"/>
            <a:ext cx="10515600" cy="324577"/>
          </a:xfrm>
        </p:spPr>
        <p:txBody>
          <a:bodyPr>
            <a:noAutofit/>
          </a:bodyPr>
          <a:lstStyle/>
          <a:p>
            <a:pPr algn="ctr"/>
            <a:r>
              <a:rPr lang="en-IN" sz="2800">
                <a:solidFill>
                  <a:srgbClr val="FF0000"/>
                </a:solidFill>
              </a:rPr>
              <a:t>projectile_env.py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37B9-179B-8254-2E44-4D967EB2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730"/>
            <a:ext cx="10515600" cy="6191395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/>
              <a:t>import </a:t>
            </a:r>
            <a:r>
              <a:rPr lang="en-IN" sz="2000" err="1"/>
              <a:t>mujoco</a:t>
            </a:r>
            <a:r>
              <a:rPr lang="en-IN" sz="2000"/>
              <a:t> as </a:t>
            </a:r>
            <a:r>
              <a:rPr lang="en-IN" sz="2000" err="1"/>
              <a:t>mj</a:t>
            </a: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import </a:t>
            </a:r>
            <a:r>
              <a:rPr lang="en-IN" sz="2000" err="1"/>
              <a:t>mujoco_viewer</a:t>
            </a: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import </a:t>
            </a:r>
            <a:r>
              <a:rPr lang="en-IN" sz="2000" err="1"/>
              <a:t>os</a:t>
            </a:r>
            <a:r>
              <a:rPr lang="en-IN" sz="2000"/>
              <a:t>    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class ProjectileEnv: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def __</a:t>
            </a:r>
            <a:r>
              <a:rPr lang="en-IN" sz="2000" err="1"/>
              <a:t>init</a:t>
            </a:r>
            <a:r>
              <a:rPr lang="en-IN" sz="2000"/>
              <a:t>__(</a:t>
            </a:r>
            <a:r>
              <a:rPr lang="en-IN" sz="2000" err="1"/>
              <a:t>self,args</a:t>
            </a:r>
            <a:r>
              <a:rPr lang="en-IN" sz="2000"/>
              <a:t>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self.xml_file</a:t>
            </a:r>
            <a:r>
              <a:rPr lang="en-IN" sz="2000"/>
              <a:t> = </a:t>
            </a:r>
            <a:r>
              <a:rPr lang="en-IN" sz="2000" err="1"/>
              <a:t>args</a:t>
            </a:r>
            <a:r>
              <a:rPr lang="en-IN" sz="2000"/>
              <a:t>['</a:t>
            </a:r>
            <a:r>
              <a:rPr lang="en-IN" sz="2000" err="1"/>
              <a:t>xml_file</a:t>
            </a:r>
            <a:r>
              <a:rPr lang="en-IN" sz="2000"/>
              <a:t>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xml_directory</a:t>
            </a:r>
            <a:r>
              <a:rPr lang="en-IN" sz="2000"/>
              <a:t> = </a:t>
            </a:r>
            <a:r>
              <a:rPr lang="en-IN" sz="2000" err="1"/>
              <a:t>os.getcwd</a:t>
            </a:r>
            <a:r>
              <a:rPr lang="en-IN" sz="2000"/>
              <a:t>() + "/env"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self.xml_path</a:t>
            </a:r>
            <a:r>
              <a:rPr lang="en-IN" sz="2000"/>
              <a:t> = </a:t>
            </a:r>
            <a:r>
              <a:rPr lang="en-IN" sz="2000" err="1"/>
              <a:t>os.path.join</a:t>
            </a:r>
            <a:r>
              <a:rPr lang="en-IN" sz="2000"/>
              <a:t>(</a:t>
            </a:r>
            <a:r>
              <a:rPr lang="en-IN" sz="2000" err="1"/>
              <a:t>xml_directory,self.xml_file</a:t>
            </a:r>
            <a:r>
              <a:rPr lang="en-IN" sz="200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self._</a:t>
            </a:r>
            <a:r>
              <a:rPr lang="en-IN" sz="2000" err="1"/>
              <a:t>mj_init</a:t>
            </a:r>
            <a:r>
              <a:rPr lang="en-IN" sz="2000"/>
              <a:t>()             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def step(self):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mj.mj_step</a:t>
            </a:r>
            <a:r>
              <a:rPr lang="en-IN" sz="2000"/>
              <a:t>(</a:t>
            </a:r>
            <a:r>
              <a:rPr lang="en-IN" sz="2000" err="1"/>
              <a:t>self.model,self.data</a:t>
            </a:r>
            <a:r>
              <a:rPr lang="en-IN" sz="200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self.render</a:t>
            </a:r>
            <a:r>
              <a:rPr lang="en-IN" sz="2000"/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def _</a:t>
            </a:r>
            <a:r>
              <a:rPr lang="en-IN" sz="2000" err="1"/>
              <a:t>mj_init</a:t>
            </a:r>
            <a:r>
              <a:rPr lang="en-IN" sz="2000"/>
              <a:t>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self.model</a:t>
            </a:r>
            <a:r>
              <a:rPr lang="en-IN" sz="2000"/>
              <a:t> = </a:t>
            </a:r>
            <a:r>
              <a:rPr lang="en-IN" sz="2000" err="1"/>
              <a:t>mj.MjModel.from_xml_path</a:t>
            </a:r>
            <a:r>
              <a:rPr lang="en-IN" sz="2000"/>
              <a:t>(</a:t>
            </a:r>
            <a:r>
              <a:rPr lang="en-IN" sz="2000" err="1"/>
              <a:t>self.xml_path</a:t>
            </a:r>
            <a:r>
              <a:rPr lang="en-IN" sz="2000"/>
              <a:t>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self.data</a:t>
            </a:r>
            <a:r>
              <a:rPr lang="en-IN" sz="2000"/>
              <a:t> = </a:t>
            </a:r>
            <a:r>
              <a:rPr lang="en-IN" sz="2000" err="1"/>
              <a:t>mj.MjData</a:t>
            </a:r>
            <a:r>
              <a:rPr lang="en-IN" sz="2000"/>
              <a:t>(</a:t>
            </a:r>
            <a:r>
              <a:rPr lang="en-IN" sz="2000" err="1"/>
              <a:t>self.model</a:t>
            </a:r>
            <a:r>
              <a:rPr lang="en-IN" sz="2000"/>
              <a:t>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self.viewer</a:t>
            </a:r>
            <a:r>
              <a:rPr lang="en-IN" sz="2000"/>
              <a:t> = </a:t>
            </a:r>
            <a:r>
              <a:rPr lang="en-IN" sz="2000" err="1"/>
              <a:t>mujoco_viewer.MujocoViewer</a:t>
            </a:r>
            <a:r>
              <a:rPr lang="en-IN" sz="2000"/>
              <a:t>(</a:t>
            </a:r>
            <a:r>
              <a:rPr lang="en-IN" sz="2000" err="1"/>
              <a:t>self.model</a:t>
            </a:r>
            <a:r>
              <a:rPr lang="en-IN" sz="2000"/>
              <a:t>, </a:t>
            </a:r>
            <a:r>
              <a:rPr lang="en-IN" sz="2000" err="1"/>
              <a:t>self.data,hide_menus</a:t>
            </a:r>
            <a:r>
              <a:rPr lang="en-IN" sz="2000"/>
              <a:t>=True)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def render(self):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 err="1"/>
              <a:t>self.viewer.render</a:t>
            </a:r>
            <a:r>
              <a:rPr lang="en-IN" sz="2000"/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def stop(self):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if </a:t>
            </a:r>
            <a:r>
              <a:rPr lang="en-IN" sz="2000" err="1"/>
              <a:t>self.viewer.is_alive</a:t>
            </a:r>
            <a:r>
              <a:rPr lang="en-IN" sz="2000"/>
              <a:t>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    </a:t>
            </a:r>
            <a:r>
              <a:rPr lang="en-IN" sz="2000" err="1"/>
              <a:t>self.viewer.close</a:t>
            </a:r>
            <a:r>
              <a:rPr lang="en-IN" sz="200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44004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E5FF-ED98-2517-4285-9F7D0C7F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53"/>
            <a:ext cx="10515600" cy="715465"/>
          </a:xfrm>
        </p:spPr>
        <p:txBody>
          <a:bodyPr>
            <a:no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main.py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37B9-179B-8254-2E44-4D967EB2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7963"/>
            <a:ext cx="10515600" cy="514437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def main(args):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36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from env.projectile_env import ProjectileEnv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env = ProjectileEnv(args)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36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for i in range(5000):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    env.step()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env.stop()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36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if __name__ == "__main__":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args={}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args['xml_file'] = 'projectile.xml'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600"/>
              <a:t>    main(args)</a:t>
            </a:r>
          </a:p>
        </p:txBody>
      </p:sp>
    </p:spTree>
    <p:extLst>
      <p:ext uri="{BB962C8B-B14F-4D97-AF65-F5344CB8AC3E}">
        <p14:creationId xmlns:p14="http://schemas.microsoft.com/office/powerpoint/2010/main" val="50919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3B785-524C-F72B-E2FC-44E6C33F1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customize the camera's position and angle in the simulation view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731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E5FF-ED98-2517-4285-9F7D0C7F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53"/>
            <a:ext cx="10515600" cy="520021"/>
          </a:xfrm>
        </p:spPr>
        <p:txBody>
          <a:bodyPr>
            <a:no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projectile_env.py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37B9-179B-8254-2E44-4D967EB2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777"/>
            <a:ext cx="10515600" cy="619139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/>
              <a:t>def __init__(self,args):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self.xml_file = args['xml_file']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xml_directory = os.getcwd() + "/env"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self.xml_path = os.path.join(xml_directory,self.xml_file)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>
                <a:solidFill>
                  <a:srgbClr val="FF0000"/>
                </a:solidFill>
              </a:rPr>
              <a:t>self.cam_azi = args['cam_azi']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>
                <a:solidFill>
                  <a:srgbClr val="FF0000"/>
                </a:solidFill>
              </a:rPr>
              <a:t>        self.cam_ele = args['cam_ele']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>
                <a:solidFill>
                  <a:srgbClr val="FF0000"/>
                </a:solidFill>
              </a:rPr>
              <a:t>        self.cam_dist = args['cam_dist']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self._mj_init()             </a:t>
            </a:r>
          </a:p>
          <a:p>
            <a:pPr marL="0" indent="0">
              <a:spcBef>
                <a:spcPts val="0"/>
              </a:spcBef>
              <a:buNone/>
            </a:pPr>
            <a:endParaRPr lang="en-IN" sz="2000"/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def _mj_init(self):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self.model = mj.MjModel.from_xml_path(self.xml_path)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self.data = mj.MjData(self.model)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self.viewer = mujoco_viewer.MujocoViewer(self.model, self.data,hide_menus=True)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/>
              <a:t>        </a:t>
            </a:r>
            <a:r>
              <a:rPr lang="en-IN" sz="2000">
                <a:solidFill>
                  <a:srgbClr val="FF0000"/>
                </a:solidFill>
              </a:rPr>
              <a:t>self.viewer.cam.azimuth = self.cam_azi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>
                <a:solidFill>
                  <a:srgbClr val="FF0000"/>
                </a:solidFill>
              </a:rPr>
              <a:t>        self.viewer.cam.elevation = self.cam_ele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>
                <a:solidFill>
                  <a:srgbClr val="FF0000"/>
                </a:solidFill>
              </a:rPr>
              <a:t>        self.viewer.cam.distance =  self.cam_dist</a:t>
            </a:r>
          </a:p>
          <a:p>
            <a:pPr marL="0" indent="0">
              <a:spcBef>
                <a:spcPts val="0"/>
              </a:spcBef>
              <a:buNone/>
            </a:pP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3876346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8E5FF-ED98-2517-4285-9F7D0C7FE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154"/>
            <a:ext cx="10515600" cy="575862"/>
          </a:xfrm>
        </p:spPr>
        <p:txBody>
          <a:bodyPr>
            <a:noAutofit/>
          </a:bodyPr>
          <a:lstStyle/>
          <a:p>
            <a:pPr algn="ctr"/>
            <a:r>
              <a:rPr lang="en-IN" sz="3200">
                <a:solidFill>
                  <a:srgbClr val="FF0000"/>
                </a:solidFill>
              </a:rPr>
              <a:t>main.py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937B9-179B-8254-2E44-4D967EB28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8017"/>
            <a:ext cx="10515600" cy="5514320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def main(args):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24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from env.projectile_env import ProjectileEnv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env = ProjectileEnv(args)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24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for i in range(5000):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    env.step()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env.stop()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240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if __name__ == "__main__":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args={}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args['xml_file'] = 'projectile.xml'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>
                <a:solidFill>
                  <a:srgbClr val="FF0000"/>
                </a:solidFill>
              </a:rPr>
              <a:t>    args['cam_azi']     = 90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>
                <a:solidFill>
                  <a:srgbClr val="FF0000"/>
                </a:solidFill>
              </a:rPr>
              <a:t>    args['cam_ele']     = -10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>
                <a:solidFill>
                  <a:srgbClr val="FF0000"/>
                </a:solidFill>
              </a:rPr>
              <a:t>    args['cam_dist']    =  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2400"/>
              <a:t>    main(args)</a:t>
            </a:r>
          </a:p>
          <a:p>
            <a:pPr marL="0" indent="0">
              <a:spcBef>
                <a:spcPts val="0"/>
              </a:spcBef>
              <a:buNone/>
            </a:pPr>
            <a:endParaRPr lang="en-IN" sz="2400"/>
          </a:p>
          <a:p>
            <a:pPr marL="0" indent="0">
              <a:spcBef>
                <a:spcPts val="0"/>
              </a:spcBef>
              <a:buNone/>
            </a:pP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32216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63AA-CBBC-9275-DED5-A3D721E6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Set the gravity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6DE-71A0-8595-06DA-FB44BFD9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>
                <a:highlight>
                  <a:srgbClr val="C0C0C0"/>
                </a:highlight>
              </a:rPr>
              <a:t>projectile_env.py</a:t>
            </a:r>
          </a:p>
          <a:p>
            <a:pPr marL="0" indent="0">
              <a:buNone/>
            </a:pPr>
            <a:r>
              <a:rPr lang="en-IN">
                <a:solidFill>
                  <a:srgbClr val="FF0000"/>
                </a:solidFill>
              </a:rPr>
              <a:t>def gravity_field(self,gx,gy,gz):</a:t>
            </a:r>
          </a:p>
          <a:p>
            <a:pPr marL="0" indent="0">
              <a:buNone/>
            </a:pPr>
            <a:r>
              <a:rPr lang="en-IN">
                <a:solidFill>
                  <a:srgbClr val="FF0000"/>
                </a:solidFill>
              </a:rPr>
              <a:t>        self.model.opt.gravity[0] = gx</a:t>
            </a:r>
          </a:p>
          <a:p>
            <a:pPr marL="0" indent="0">
              <a:buNone/>
            </a:pPr>
            <a:r>
              <a:rPr lang="en-IN">
                <a:solidFill>
                  <a:srgbClr val="FF0000"/>
                </a:solidFill>
              </a:rPr>
              <a:t>        self.model.opt.gravity[1] = gy</a:t>
            </a:r>
          </a:p>
          <a:p>
            <a:pPr marL="0" indent="0">
              <a:buNone/>
            </a:pPr>
            <a:r>
              <a:rPr lang="en-IN">
                <a:solidFill>
                  <a:srgbClr val="FF0000"/>
                </a:solidFill>
              </a:rPr>
              <a:t>        self.model.opt.gravity[2] = gz</a:t>
            </a:r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r>
              <a:rPr lang="en-IN">
                <a:highlight>
                  <a:srgbClr val="C0C0C0"/>
                </a:highlight>
              </a:rPr>
              <a:t>main.py</a:t>
            </a:r>
          </a:p>
          <a:p>
            <a:pPr marL="0" indent="0">
              <a:buNone/>
            </a:pPr>
            <a:r>
              <a:rPr lang="en-IN"/>
              <a:t>env = ProjectileEnv(args)</a:t>
            </a:r>
          </a:p>
          <a:p>
            <a:pPr marL="0" indent="0">
              <a:buNone/>
            </a:pPr>
            <a:r>
              <a:rPr lang="en-IN">
                <a:solidFill>
                  <a:srgbClr val="FF0000"/>
                </a:solidFill>
              </a:rPr>
              <a:t>env.gravity_field(0,0,-9.81)</a:t>
            </a:r>
          </a:p>
        </p:txBody>
      </p:sp>
    </p:spTree>
    <p:extLst>
      <p:ext uri="{BB962C8B-B14F-4D97-AF65-F5344CB8AC3E}">
        <p14:creationId xmlns:p14="http://schemas.microsoft.com/office/powerpoint/2010/main" val="1541697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63AA-CBBC-9275-DED5-A3D721E6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Change the initial position of 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6DE-71A0-8595-06DA-FB44BFD9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>
                <a:highlight>
                  <a:srgbClr val="C0C0C0"/>
                </a:highlight>
              </a:rPr>
              <a:t>projectile_env.py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/>
              <a:t>class ProjectileEnv:</a:t>
            </a:r>
            <a:endParaRPr lang="en-IN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class QPOS_ADR():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BALL_POS_X =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BALL_POS_Y 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BALL_POS_Z =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def ball_position(self,posx,posy,posz):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self.data.qpos[self.QPOS_ADR.BALL_POS_X] = posx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self.data.qpos[self.QPOS_ADR.BALL_POS_Y] = posy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self.data.qpos[self.QPOS_ADR.BALL_POS_Z] = posz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mj.mj_forward(self.model,self.data)</a:t>
            </a:r>
          </a:p>
        </p:txBody>
      </p:sp>
    </p:spTree>
    <p:extLst>
      <p:ext uri="{BB962C8B-B14F-4D97-AF65-F5344CB8AC3E}">
        <p14:creationId xmlns:p14="http://schemas.microsoft.com/office/powerpoint/2010/main" val="117777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63AA-CBBC-9275-DED5-A3D721E64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Launch the projectile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ED6DE-71A0-8595-06DA-FB44BFD9D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>
                <a:highlight>
                  <a:srgbClr val="C0C0C0"/>
                </a:highlight>
              </a:rPr>
              <a:t>projectile_env.py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/>
              <a:t>class ProjectileEnv:</a:t>
            </a:r>
            <a:endParaRPr lang="en-IN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class QVEL_ADR():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BALL_VEL_X =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BALL_VEL_Y 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BALL_VEL_Z =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def ball_velocity(self,vx,vy,vz):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self.data.qvel[self.QVEL_ADR.BALL_VEL_X] = vx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self.data.qvel[self.QVEL_ADR.BALL_VEL_Y] = vy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>
                <a:solidFill>
                  <a:srgbClr val="FF0000"/>
                </a:solidFill>
              </a:rPr>
              <a:t>        self.data.qvel[self.QVEL_ADR.BALL_VEL_Z] = vz</a:t>
            </a:r>
          </a:p>
        </p:txBody>
      </p:sp>
    </p:spTree>
    <p:extLst>
      <p:ext uri="{BB962C8B-B14F-4D97-AF65-F5344CB8AC3E}">
        <p14:creationId xmlns:p14="http://schemas.microsoft.com/office/powerpoint/2010/main" val="2639242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math equations on a white paper&#10;&#10;Description automatically generated">
            <a:extLst>
              <a:ext uri="{FF2B5EF4-FFF2-40B4-BE49-F238E27FC236}">
                <a16:creationId xmlns:a16="http://schemas.microsoft.com/office/drawing/2014/main" id="{E6642430-68A3-73C0-A57C-AEC1D184F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61618"/>
            <a:ext cx="10905066" cy="433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4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21DE-23A1-7C14-2AE9-BEC217BF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BF032-A2B8-1593-439E-8FDDF455A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/>
              <a:t>Apply drag force</a:t>
            </a:r>
          </a:p>
          <a:p>
            <a:pPr marL="0" indent="0">
              <a:buNone/>
            </a:pPr>
            <a:r>
              <a:rPr lang="en-IN"/>
              <a:t>Hint:</a:t>
            </a:r>
          </a:p>
          <a:p>
            <a:pPr marL="0" indent="0">
              <a:buNone/>
            </a:pPr>
            <a:r>
              <a:rPr lang="en-IN"/>
              <a:t>def controller():</a:t>
            </a:r>
          </a:p>
          <a:p>
            <a:pPr marL="0" indent="0">
              <a:buNone/>
            </a:pPr>
            <a:r>
              <a:rPr lang="en-IN"/>
              <a:t>        vx = data.qpos[0]</a:t>
            </a:r>
          </a:p>
          <a:p>
            <a:pPr marL="0" indent="0">
              <a:buNone/>
            </a:pPr>
            <a:r>
              <a:rPr lang="en-IN"/>
              <a:t>        vy = data.qpos[1]</a:t>
            </a:r>
          </a:p>
          <a:p>
            <a:pPr marL="0" indent="0">
              <a:buNone/>
            </a:pPr>
            <a:r>
              <a:rPr lang="en-IN"/>
              <a:t>        vz = env.qpos[2]</a:t>
            </a:r>
          </a:p>
          <a:p>
            <a:pPr marL="0" indent="0">
              <a:buNone/>
            </a:pPr>
            <a:r>
              <a:rPr lang="en-IN"/>
              <a:t>        v = np.sqrt(vx**2 + vy**2 + vz**2)</a:t>
            </a:r>
          </a:p>
          <a:p>
            <a:pPr marL="0" indent="0">
              <a:buNone/>
            </a:pPr>
            <a:r>
              <a:rPr lang="en-IN"/>
              <a:t>        c = 1.0</a:t>
            </a:r>
          </a:p>
          <a:p>
            <a:pPr marL="0" indent="0">
              <a:buNone/>
            </a:pPr>
            <a:r>
              <a:rPr lang="en-IN"/>
              <a:t>        data.qfrc_applied[0] = -c * v * vx</a:t>
            </a:r>
          </a:p>
          <a:p>
            <a:pPr marL="0" indent="0">
              <a:buNone/>
            </a:pPr>
            <a:r>
              <a:rPr lang="en-IN"/>
              <a:t>        data.qfrc_applied[1] = -c * v * vy</a:t>
            </a:r>
          </a:p>
          <a:p>
            <a:pPr marL="0" indent="0">
              <a:buNone/>
            </a:pPr>
            <a:r>
              <a:rPr lang="en-IN"/>
              <a:t>        data.qfrc_applied[2] = -c * v * vz</a:t>
            </a:r>
          </a:p>
        </p:txBody>
      </p:sp>
    </p:spTree>
    <p:extLst>
      <p:ext uri="{BB962C8B-B14F-4D97-AF65-F5344CB8AC3E}">
        <p14:creationId xmlns:p14="http://schemas.microsoft.com/office/powerpoint/2010/main" val="3129228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0AD8-C6A4-CB22-6859-32E79A95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5EACC-D1F4-C249-7CA4-C83B1857B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hlinkClick r:id="rId2"/>
              </a:rPr>
              <a:t>Overview - MuJoCo Documentation</a:t>
            </a:r>
            <a:endParaRPr lang="en-IN"/>
          </a:p>
          <a:p>
            <a:r>
              <a:rPr lang="en-IN">
                <a:hlinkClick r:id="rId3"/>
              </a:rPr>
              <a:t>XML Reference - MuJoCo Documentation</a:t>
            </a:r>
            <a:endParaRPr lang="en-IN"/>
          </a:p>
          <a:p>
            <a:r>
              <a:rPr lang="en-IN">
                <a:hlinkClick r:id="rId4"/>
              </a:rPr>
              <a:t>GitHub - </a:t>
            </a:r>
            <a:r>
              <a:rPr lang="en-IN" err="1">
                <a:hlinkClick r:id="rId4"/>
              </a:rPr>
              <a:t>rohanpsingh</a:t>
            </a:r>
            <a:r>
              <a:rPr lang="en-IN">
                <a:hlinkClick r:id="rId4"/>
              </a:rPr>
              <a:t>/</a:t>
            </a:r>
            <a:r>
              <a:rPr lang="en-IN" err="1">
                <a:hlinkClick r:id="rId4"/>
              </a:rPr>
              <a:t>mujoco</a:t>
            </a:r>
            <a:r>
              <a:rPr lang="en-IN">
                <a:hlinkClick r:id="rId4"/>
              </a:rPr>
              <a:t>-python-viewer: Simple renderer for use with MuJoCo (&gt;=2.1.2) Python Bindings.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578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6DAE0-0FD3-ACDA-A360-6AA5B511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Pranaam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0AB00D3-8EE5-A79C-5476-E40201E0A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612" y="666728"/>
            <a:ext cx="5465791" cy="546579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813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1613</Words>
  <Application>Microsoft Office PowerPoint</Application>
  <PresentationFormat>Widescreen</PresentationFormat>
  <Paragraphs>196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Consolas</vt:lpstr>
      <vt:lpstr>DM Sans</vt:lpstr>
      <vt:lpstr>Times New Roman</vt:lpstr>
      <vt:lpstr>Verdana</vt:lpstr>
      <vt:lpstr>Office Theme</vt:lpstr>
      <vt:lpstr>JeevYantra</vt:lpstr>
      <vt:lpstr>Aṣṭamaḥ</vt:lpstr>
      <vt:lpstr>MuJoCo</vt:lpstr>
      <vt:lpstr>Installation</vt:lpstr>
      <vt:lpstr>Step 1</vt:lpstr>
      <vt:lpstr>xml syntax</vt:lpstr>
      <vt:lpstr>PowerPoint Presentation</vt:lpstr>
      <vt:lpstr>PowerPoint Presentation</vt:lpstr>
      <vt:lpstr>PowerPoint Presentation</vt:lpstr>
      <vt:lpstr>PowerPoint Presentation</vt:lpstr>
      <vt:lpstr>Step 2</vt:lpstr>
      <vt:lpstr>projectile_env.py</vt:lpstr>
      <vt:lpstr>main.py</vt:lpstr>
      <vt:lpstr>PowerPoint Presentation</vt:lpstr>
      <vt:lpstr>projectile_env.py</vt:lpstr>
      <vt:lpstr>main.py</vt:lpstr>
      <vt:lpstr>Set the gravity</vt:lpstr>
      <vt:lpstr>Change the initial position of ball</vt:lpstr>
      <vt:lpstr>Launch the projectile</vt:lpstr>
      <vt:lpstr>PowerPoint Presentation</vt:lpstr>
      <vt:lpstr>Homework</vt:lpstr>
      <vt:lpstr>References</vt:lpstr>
      <vt:lpstr>Pranaam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SC21B111-Rajneesh 2021-BTECH-ELCOMENG</dc:creator>
  <cp:lastModifiedBy>SC21B111-Rajneesh 2021-BTECH-ELCOMENG</cp:lastModifiedBy>
  <cp:revision>25</cp:revision>
  <dcterms:created xsi:type="dcterms:W3CDTF">2024-08-03T05:24:06Z</dcterms:created>
  <dcterms:modified xsi:type="dcterms:W3CDTF">2024-08-17T17:35:02Z</dcterms:modified>
</cp:coreProperties>
</file>